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Hires</c:v>
                </c:pt>
              </c:strCache>
            </c:strRef>
          </c:tx>
          <c:spPr>
            <a:ln w="38100" cap="flat">
              <a:solidFill>
                <a:srgbClr val="4A6C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6CF7"/>
              </a:solidFill>
              <a:ln w="9525" cap="flat">
                <a:solidFill>
                  <a:srgbClr val="4A6CF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118</c:v>
                </c:pt>
                <c:pt idx="1">
                  <c:v>635</c:v>
                </c:pt>
                <c:pt idx="2">
                  <c:v>616</c:v>
                </c:pt>
                <c:pt idx="3">
                  <c:v>663</c:v>
                </c:pt>
                <c:pt idx="4">
                  <c:v>660</c:v>
                </c:pt>
                <c:pt idx="5">
                  <c:v>630</c:v>
                </c:pt>
                <c:pt idx="6">
                  <c:v>641</c:v>
                </c:pt>
                <c:pt idx="7">
                  <c:v>611</c:v>
                </c:pt>
                <c:pt idx="8">
                  <c:v>628</c:v>
                </c:pt>
                <c:pt idx="9">
                  <c:v>636</c:v>
                </c:pt>
                <c:pt idx="10">
                  <c:v>610</c:v>
                </c:pt>
                <c:pt idx="11">
                  <c:v>624</c:v>
                </c:pt>
                <c:pt idx="12">
                  <c:v>611</c:v>
                </c:pt>
                <c:pt idx="13">
                  <c:v>599</c:v>
                </c:pt>
                <c:pt idx="14">
                  <c:v>608</c:v>
                </c:pt>
                <c:pt idx="15">
                  <c:v>606</c:v>
                </c:pt>
                <c:pt idx="16">
                  <c:v>648</c:v>
                </c:pt>
                <c:pt idx="17">
                  <c:v>625</c:v>
                </c:pt>
                <c:pt idx="18">
                  <c:v>629</c:v>
                </c:pt>
                <c:pt idx="19">
                  <c:v>602</c:v>
                </c:pt>
                <c:pt idx="20">
                  <c:v>592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E80-4D46-86B4-6E57FDA5FF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6C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024-46B3-B975-445F12143BF0}"/>
              </c:ext>
            </c:extLst>
          </c:dPt>
          <c:dPt>
            <c:idx val="1"/>
            <c:bubble3D val="0"/>
            <c:spPr>
              <a:solidFill>
                <a:srgbClr val="E052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24-46B3-B975-445F12143BF0}"/>
              </c:ext>
            </c:extLst>
          </c:dPt>
          <c:dPt>
            <c:idx val="2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24-46B3-B975-445F12143B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024-46B3-B975-445F12143B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24-46B3-B975-445F12143BF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024-46B3-B975-445F12143B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Non-Conforming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6444</c:v>
                </c:pt>
                <c:pt idx="1">
                  <c:v>5808</c:v>
                </c:pt>
                <c:pt idx="2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024-46B3-B975-445F12143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4A6C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Engineering</c:v>
                </c:pt>
                <c:pt idx="1">
                  <c:v>Accounting</c:v>
                </c:pt>
                <c:pt idx="2">
                  <c:v>Human Resources</c:v>
                </c:pt>
                <c:pt idx="3">
                  <c:v>Sales</c:v>
                </c:pt>
                <c:pt idx="4">
                  <c:v>Services</c:v>
                </c:pt>
                <c:pt idx="5">
                  <c:v>Training</c:v>
                </c:pt>
                <c:pt idx="6">
                  <c:v>Biz Dev</c:v>
                </c:pt>
                <c:pt idx="7">
                  <c:v>R&amp;D</c:v>
                </c:pt>
                <c:pt idx="8">
                  <c:v>Support</c:v>
                </c:pt>
                <c:pt idx="9">
                  <c:v>Product Mgmt</c:v>
                </c:pt>
                <c:pt idx="10">
                  <c:v>Marketing</c:v>
                </c:pt>
                <c:pt idx="11">
                  <c:v>Legal</c:v>
                </c:pt>
                <c:pt idx="12">
                  <c:v>Auditing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3812</c:v>
                </c:pt>
                <c:pt idx="1">
                  <c:v>1860</c:v>
                </c:pt>
                <c:pt idx="2">
                  <c:v>1063</c:v>
                </c:pt>
                <c:pt idx="3">
                  <c:v>1019</c:v>
                </c:pt>
                <c:pt idx="4">
                  <c:v>954</c:v>
                </c:pt>
                <c:pt idx="5">
                  <c:v>944</c:v>
                </c:pt>
                <c:pt idx="6">
                  <c:v>918</c:v>
                </c:pt>
                <c:pt idx="7">
                  <c:v>618</c:v>
                </c:pt>
                <c:pt idx="8">
                  <c:v>562</c:v>
                </c:pt>
                <c:pt idx="9">
                  <c:v>371</c:v>
                </c:pt>
                <c:pt idx="10">
                  <c:v>270</c:v>
                </c:pt>
                <c:pt idx="11">
                  <c:v>168</c:v>
                </c:pt>
                <c:pt idx="1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2D-416A-A12F-0B2DB3DC7B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White</c:v>
                </c:pt>
                <c:pt idx="1">
                  <c:v>Two or More Races</c:v>
                </c:pt>
                <c:pt idx="2">
                  <c:v>Asian</c:v>
                </c:pt>
                <c:pt idx="3">
                  <c:v>Black/African Am.</c:v>
                </c:pt>
                <c:pt idx="4">
                  <c:v>Hispanic/Latino</c:v>
                </c:pt>
                <c:pt idx="5">
                  <c:v>Am. Indian/Alaska</c:v>
                </c:pt>
                <c:pt idx="6">
                  <c:v>Native Hawaiian/PI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3558</c:v>
                </c:pt>
                <c:pt idx="1">
                  <c:v>2049</c:v>
                </c:pt>
                <c:pt idx="2">
                  <c:v>2066</c:v>
                </c:pt>
                <c:pt idx="3">
                  <c:v>2008</c:v>
                </c:pt>
                <c:pt idx="4">
                  <c:v>1484</c:v>
                </c:pt>
                <c:pt idx="5">
                  <c:v>745</c:v>
                </c:pt>
                <c:pt idx="6">
                  <c:v>682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F9-4C10-A5E4-C28D3FFED8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27AE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Ohio</c:v>
                </c:pt>
                <c:pt idx="1">
                  <c:v>Pennsylvania</c:v>
                </c:pt>
                <c:pt idx="2">
                  <c:v>Illinois</c:v>
                </c:pt>
                <c:pt idx="3">
                  <c:v>Michigan</c:v>
                </c:pt>
                <c:pt idx="4">
                  <c:v>Indiana</c:v>
                </c:pt>
                <c:pt idx="5">
                  <c:v>Kentucky</c:v>
                </c:pt>
                <c:pt idx="6">
                  <c:v>Wisconsin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10221</c:v>
                </c:pt>
                <c:pt idx="1">
                  <c:v>615</c:v>
                </c:pt>
                <c:pt idx="2">
                  <c:v>496</c:v>
                </c:pt>
                <c:pt idx="3">
                  <c:v>404</c:v>
                </c:pt>
                <c:pt idx="4">
                  <c:v>392</c:v>
                </c:pt>
                <c:pt idx="5">
                  <c:v>251</c:v>
                </c:pt>
                <c:pt idx="6">
                  <c:v>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FA-4DB5-A960-133D6F8A77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9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yourself and the project objective: to analyze HR data and derive workforce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KPIs: 12,593 total employees. 82.3% active, 17.7% attrition — above industry average of 10-13%. 75% work at HQ, only 25% remote. Average age 38.4 — mid-career workforce.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Hiring was very low in 2000 (118) — likely the company's first year. It then stabilized at 600-660 range. The 2020 drop to 592 likely reflects COVID-19 pandemic hiring freeze.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dominates with 3,812 employees (30%). Marketing only 270 — critically understaffed for a company this size. Gender is near-parity: 51.2% Male, 46.1% Female, 2.7% Non-Conforming.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Ohio has 10,221 employees — 81.2% of total workforce. Company is heavily concentrated in one state. White is the largest racial group (3,558), but diversity is decent with Asian, Black, and Hispanic groups well represented.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each insight with the supporting data point. Focus on attrition and Ohio concentration as top-priority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HIGH priority actions: Attrition reduction, Remote work expansion, and Marketing growth. Three MEDIUM priority: Geographic diversification, DEI programs, and Succession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The analysis revealed above-average attrition, heavy Ohio concentration, and an understaffed Marketing team. Three high-priority recommendations have been made to address these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4A6CF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2286000"/>
            <a:ext cx="2743200" cy="2743200"/>
          </a:xfrm>
          <a:prstGeom prst="ellipse">
            <a:avLst/>
          </a:prstGeom>
          <a:solidFill>
            <a:srgbClr val="4A6CF7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BAA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Internship Project Report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8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Subhash  |  Datamites Institute  |  B.Tech AI &amp; ML  |  June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12,593 Employees  |  Tool: Power BI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At-a-glance workforce summary from 12,593 employee records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011680" cy="13716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12,593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workforce headcount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2011680" cy="137160"/>
          </a:xfrm>
          <a:prstGeom prst="rect">
            <a:avLst/>
          </a:prstGeom>
          <a:solidFill>
            <a:srgbClr val="27AE8F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10,367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Employees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82.3% currently employed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2011680" cy="137160"/>
          </a:xfrm>
          <a:prstGeom prst="rect">
            <a:avLst/>
          </a:prstGeom>
          <a:solidFill>
            <a:srgbClr val="E0526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 attrition 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005840"/>
            <a:ext cx="2011680" cy="1371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 yrs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1228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Mid-career workforce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743200"/>
            <a:ext cx="4114800" cy="109728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880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75.18%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6576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Workers  —  9,468 at Headquarters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7432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743200"/>
            <a:ext cx="41148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880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24.81%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66344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Workers  —  3,124 work remotely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Rate by Year (2000–2020)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new hires per year based on hire_date field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8412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2976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3159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Peak hiring: 2003–2004 (660+) and 2016–2018 (640+)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42976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315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2000 spike (118) = anomaly; 2020 dip (592) = COVID impact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Distribution &amp; Employees by Department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Employees by Gender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43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gender parity: 51.2% Male, 46.1% Female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31920" y="68580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23360" y="777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Employees by Department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3931920" y="1097280"/>
          <a:ext cx="49377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by Race &amp; by State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by Race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6858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5488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by State</a:t>
            </a:r>
            <a:endParaRPr lang="en-US" sz="11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663440" y="109728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findings from the HR Analytics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69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High Attrition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 attrition (2,226 of 12,593) — above 10-13% industry average. Root cause analysis needed urgently.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7E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69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Ohio Concentration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417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81.2% of workforce (10,221) is in Ohio. One-state dependency is a major operational risk.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069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Stable Hiring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417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600+ hires/year from 2001-2020. 2020 dip to 592 reflects COVID-era freeze.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DF4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35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Marketing Understaffed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83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270 in Marketing vs 3,812 in Engineering — 14:1 ratio limits commercialization.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0FD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035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Near Gender Parity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383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51.2% Male, 46.1% Female — positive sign. Validate at senior level for true equity.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035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Diversity Present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383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racial groups represented. Native Hawaiian (682) and Am. Indian (745) are smallest — DEI programs needed.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to the Company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144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E0526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841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Attrition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interviews + retention bonuses for high-attrition depts. Target: reduce to &lt;13%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89611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E05263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89611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7315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144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E0526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841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Remote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143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remote from 25% to 40%+ to attract talent beyond Ohio and 6 other states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83880" y="89611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E05263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89611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14884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3317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E05263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258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Marketing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560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300-500 more in Marketing to close the 14:1 Engineering-to-Marketing gap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231343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E05263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231343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214884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317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258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Ohio Dependency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560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satellite offices or enable remote hiring in new states to reduce 81% concentration risk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83880" y="231343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231343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56616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7490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3675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Programs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3977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targeted diversity programs for underrepresented groups; set measurable targets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49040" y="373075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F0A500"/>
          </a:solidFill>
          <a:ln/>
        </p:spPr>
      </p:sp>
      <p:sp>
        <p:nvSpPr>
          <p:cNvPr id="37" name="Text 35"/>
          <p:cNvSpPr/>
          <p:nvPr/>
        </p:nvSpPr>
        <p:spPr>
          <a:xfrm>
            <a:off x="3749040" y="37307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356616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7490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0A500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9240" y="3675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Succession Planning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49240" y="3977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age 38 — begin knowledge transfer and junior mentorship pipelines now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83880" y="373075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F0A500"/>
          </a:solidFill>
          <a:ln/>
        </p:spPr>
      </p:sp>
      <p:sp>
        <p:nvSpPr>
          <p:cNvPr id="44" name="Text 42"/>
          <p:cNvSpPr/>
          <p:nvPr/>
        </p:nvSpPr>
        <p:spPr>
          <a:xfrm>
            <a:off x="8183880" y="37307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4A6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4A6CF7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HR Analytics project analyzed </a:t>
            </a:r>
            <a:r>
              <a:rPr lang="en-US" sz="1400" b="1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12,593 employee records </a:t>
            </a:r>
            <a:r>
              <a:rPr lang="en-US" sz="14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uncover workforce insights using Power BI.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762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A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1031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21762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A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Workforce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1762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A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21031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1762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208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A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E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Priorities: Reduce Attrition  ·  Expand Remote Work  ·  Scale Marketing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Subhash  |  Datamites Institute  | 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</Words>
  <Application>Microsoft Office PowerPoint</Application>
  <PresentationFormat>On-screen Show (16:9)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</dc:title>
  <dc:subject>PptxGenJS Presentation</dc:subject>
  <dc:creator>Subhash</dc:creator>
  <cp:lastModifiedBy>D Subhash</cp:lastModifiedBy>
  <cp:revision>2</cp:revision>
  <dcterms:created xsi:type="dcterms:W3CDTF">2026-06-10T06:15:40Z</dcterms:created>
  <dcterms:modified xsi:type="dcterms:W3CDTF">2026-06-10T07:01:16Z</dcterms:modified>
</cp:coreProperties>
</file>